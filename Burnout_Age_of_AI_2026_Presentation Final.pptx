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0E6ED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E0E6ED"/>
                </a:solidFill>
                <a:latin typeface="Arial"/>
              </a:rPr>
              <a:t>Burnout Level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Burnout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00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57-4DCA-97DF-43328574F30B}"/>
              </c:ext>
            </c:extLst>
          </c:dPt>
          <c:dPt>
            <c:idx val="1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57-4DCA-97DF-43328574F30B}"/>
              </c:ext>
            </c:extLst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57-4DCA-97DF-43328574F30B}"/>
              </c:ext>
            </c:extLst>
          </c:dPt>
          <c:dPt>
            <c:idx val="3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57-4DCA-97DF-43328574F30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57-4DCA-97DF-43328574F30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57-4DCA-97DF-43328574F30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57-4DCA-97DF-43328574F30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57-4DCA-97DF-43328574F3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Severe</c:v>
                </c:pt>
                <c:pt idx="1">
                  <c:v>High</c:v>
                </c:pt>
                <c:pt idx="2">
                  <c:v>Moderate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28576</c:v>
                </c:pt>
                <c:pt idx="1">
                  <c:v>19362</c:v>
                </c:pt>
                <c:pt idx="2">
                  <c:v>26255</c:v>
                </c:pt>
                <c:pt idx="3">
                  <c:v>25807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57-4DCA-97DF-43328574F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E0E6E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253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0E6E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0E6ED"/>
                </a:solidFill>
                <a:latin typeface="Arial"/>
              </a:rPr>
              <a:t>Avg Burnout Score by Job Role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Burnout Score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Product Manager</c:v>
                </c:pt>
                <c:pt idx="1">
                  <c:v>Backend Dev</c:v>
                </c:pt>
                <c:pt idx="2">
                  <c:v>Frontend Dev</c:v>
                </c:pt>
                <c:pt idx="3">
                  <c:v>ML Engineer</c:v>
                </c:pt>
                <c:pt idx="4">
                  <c:v>QA Engineer</c:v>
                </c:pt>
                <c:pt idx="5">
                  <c:v>Data Scientist</c:v>
                </c:pt>
                <c:pt idx="6">
                  <c:v>DevOps</c:v>
                </c:pt>
                <c:pt idx="7">
                  <c:v>Software Eng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5.45</c:v>
                </c:pt>
                <c:pt idx="1">
                  <c:v>5.44</c:v>
                </c:pt>
                <c:pt idx="2">
                  <c:v>5.42</c:v>
                </c:pt>
                <c:pt idx="3">
                  <c:v>5.42</c:v>
                </c:pt>
                <c:pt idx="4">
                  <c:v>5.41</c:v>
                </c:pt>
                <c:pt idx="5">
                  <c:v>5.4</c:v>
                </c:pt>
                <c:pt idx="6">
                  <c:v>5.39</c:v>
                </c:pt>
                <c:pt idx="7">
                  <c:v>5.38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60-4E8B-BFD7-F977FD2A03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  <c:min val="5.3"/>
        </c:scaling>
        <c:delete val="0"/>
        <c:axPos val="b"/>
        <c:majorGridlines>
          <c:spPr>
            <a:ln w="6350" cap="flat">
              <a:solidFill>
                <a:srgbClr val="1E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53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0E6ED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E0E6ED"/>
                </a:solidFill>
                <a:latin typeface="Arial"/>
              </a:rPr>
              <a:t>Burnout by Work Mode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Burnout Score</c:v>
                </c:pt>
              </c:strCache>
            </c:strRef>
          </c:tx>
          <c:spPr>
            <a:solidFill>
              <a:srgbClr val="E800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1A-4F70-8890-012E5BF841FF}"/>
              </c:ext>
            </c:extLst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1A-4F70-8890-012E5BF841FF}"/>
              </c:ext>
            </c:extLst>
          </c:dPt>
          <c:dPt>
            <c:idx val="2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B1A-4F70-8890-012E5BF841F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Remote</c:v>
                </c:pt>
                <c:pt idx="1">
                  <c:v>Hybrid</c:v>
                </c:pt>
                <c:pt idx="2">
                  <c:v>On-site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5.48</c:v>
                </c:pt>
                <c:pt idx="1">
                  <c:v>5.43</c:v>
                </c:pt>
                <c:pt idx="2">
                  <c:v>5.25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B1A-4F70-8890-012E5BF841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6"/>
          <c:min val="5.0999999999999996"/>
        </c:scaling>
        <c:delete val="0"/>
        <c:axPos val="l"/>
        <c:majorGridlines>
          <c:spPr>
            <a:ln w="6350" cap="flat">
              <a:solidFill>
                <a:srgbClr val="1E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53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0E6E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0E6ED"/>
                </a:solidFill>
                <a:latin typeface="Arial"/>
              </a:rPr>
              <a:t>Therapy Access vs Actual Usage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Therapy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99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9F5-4F7F-928E-35090C1EFC5E}"/>
              </c:ext>
            </c:extLst>
          </c:dPt>
          <c:dPt>
            <c:idx val="1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F5-4F7F-928E-35090C1EFC5E}"/>
              </c:ext>
            </c:extLst>
          </c:dPt>
          <c:dPt>
            <c:idx val="2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F5-4F7F-928E-35090C1EFC5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9F5-4F7F-928E-35090C1EFC5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9F5-4F7F-928E-35090C1EFC5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9F5-4F7F-928E-35090C1EFC5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 Access</c:v>
                </c:pt>
                <c:pt idx="1">
                  <c:v>Has Access — Not Using</c:v>
                </c:pt>
                <c:pt idx="2">
                  <c:v>Has Access &amp; Using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65938</c:v>
                </c:pt>
                <c:pt idx="1">
                  <c:v>18877</c:v>
                </c:pt>
                <c:pt idx="2">
                  <c:v>15185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9F5-4F7F-928E-35090C1EFC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9A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253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0E6E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0E6ED"/>
                </a:solidFill>
                <a:latin typeface="Arial"/>
              </a:rPr>
              <a:t>Job Change Intention by Burnout Level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Intending to Leave</c:v>
                </c:pt>
              </c:strCache>
            </c:strRef>
          </c:tx>
          <c:spPr>
            <a:solidFill>
              <a:srgbClr val="E800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A5F-4098-AA10-1D782AE3E30D}"/>
              </c:ext>
            </c:extLst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A5F-4098-AA10-1D782AE3E30D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A5F-4098-AA10-1D782AE3E30D}"/>
              </c:ext>
            </c:extLst>
          </c:dPt>
          <c:dPt>
            <c:idx val="3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A5F-4098-AA10-1D782AE3E3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Severe</c:v>
                </c:pt>
                <c:pt idx="1">
                  <c:v>High</c:v>
                </c:pt>
                <c:pt idx="2">
                  <c:v>Moderate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25800</c:v>
                </c:pt>
                <c:pt idx="1">
                  <c:v>20100</c:v>
                </c:pt>
                <c:pt idx="2">
                  <c:v>15200</c:v>
                </c:pt>
                <c:pt idx="3">
                  <c:v>8200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A5F-4098-AA10-1D782AE3E3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53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16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479B-F5E9-BB81-5BC4-F5711E441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B565A-F719-A526-7990-EA83A03A6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A0F2D-B792-2B0E-977A-94076F011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E3228-4832-5DEA-94E0-8A021CE12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9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7315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in the Age of AI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Tech Mental Health Analysis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investigation into burnout, anxiety &amp; attrition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100,000 tech workers worldwide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246120"/>
            <a:ext cx="1828800" cy="8686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3246120"/>
            <a:ext cx="1828800" cy="8686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6032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3246120"/>
            <a:ext cx="1828800" cy="8686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6344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3246120"/>
            <a:ext cx="1828800" cy="8686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6656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6656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Aditya Bramhwanshi  |   UptoSkills Internship — Mega Data Presentation   | 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solve — and why it matters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356616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ANALYZED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mental_health_burnout_tech_2026.csv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tech employees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columns — demographics, work conditions, PHQ-9 &amp; GAD-7 clinical scores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India, UK, Germany, Canada, Australia + 4 more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Scales: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(Depression) &amp; GAD-7 (Anxiety) — real medical scoring systems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297680" cy="356616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PURPOSE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27632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20640" y="1600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HR leaders identify which roles need intervention first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5915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C-Suite the financial case: burnout → attrition → cost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09067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3063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researchers with clinical-grade behavioral data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2219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0640" y="3794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therapy access gap — resources aren't reaching people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right questions before touching any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are hiring more, paying more &amp; offering remote work — yet burnout is at an all-time high in 2026. Why?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companies worried?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92024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23360" y="187452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Burned-out employees quit — replacing one engineer costs 6–9 months salary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487168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9808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burn out despite good salaries?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532888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24871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alone doesn't protect mental health — hours, sleep &amp; manager support matter more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3099816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49808" y="3099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aren't employees seeking help?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145536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23360" y="309981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with therapy access don't use it — the gap is culture, not resources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74320" y="3712464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432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49808" y="37124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that gap exist?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758184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023360" y="3712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 &amp; fear of judgment make employees feel unsafe asking for help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74320" y="4325112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49808" y="4325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 on THIS data specifically?</a:t>
            </a:r>
            <a:endParaRPr lang="en-US" sz="11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4370832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23360" y="432511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pinpoints exactly which roles, work modes &amp; countries have worst outcomes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processed, analyzed and visualized the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33832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2801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80160" y="2395728"/>
            <a:ext cx="7315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542032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100K records into relational DB. Wrote 10+ SQL queries covering burnout by role, country, work mode, therapy gap &amp; attrition risk.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743200" cy="33832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801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06240" y="2395728"/>
            <a:ext cx="7315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37560" y="2542032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CSV directly. Built 5 core visuals + 5 KPI cards + 4 interactive slicers on a single-page dark-theme executive dashboard.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097280"/>
            <a:ext cx="2743200" cy="33832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28016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132320" y="2395728"/>
            <a:ext cx="73152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63640" y="2542032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6 custom measures: Burnout Rate %, Therapy Gap %, Avg Score, Job Change Intention % and 2 calculated columns.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   →   MySQL Workbench   →   Power BI Dashboard   →   Insights &amp; PPT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View 5 KPIs · 5 Charts · 4 Slicers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4818888"/>
            <a:ext cx="1572768" cy="21945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8188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Records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11680" y="4818888"/>
            <a:ext cx="1572768" cy="21945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48188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49040" y="4818888"/>
            <a:ext cx="1572768" cy="21945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48188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Data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4818888"/>
            <a:ext cx="1572768" cy="21945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48188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Insights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23760" y="4818888"/>
            <a:ext cx="1572768" cy="21945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23760" y="48188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7F3F94-E63B-8FB0-934E-3B7840366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46404"/>
            <a:ext cx="8412480" cy="3813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 — The Scale of the Crisis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burning out and how severe is it?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15544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64008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0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+ Severe Burnout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212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2 tech workers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15544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7432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212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 — dangerously high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743200" cy="15544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264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Quit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212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change intention rate</a:t>
            </a:r>
            <a:endParaRPr lang="en-US" sz="9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78892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754880" y="2788920"/>
            <a:ext cx="4114800" cy="214884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907792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2935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0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864608" y="3337560"/>
            <a:ext cx="3840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28,576 employees show SEVERE burnout — the highest clinical category. Combined with the HIGH group, nearly half the workforce is in crisis.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wellness trend. This is a workforce emergency.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— Who Is Most Affected?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by job role and work mode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274320" y="105156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623560" y="1051560"/>
          <a:ext cx="32461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623560" y="3108960"/>
            <a:ext cx="3246120" cy="17830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779008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79008" y="354787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workers score highest in burnout (5.48) — contradicting the belief that flexibility reduces stress.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Managers &amp; Backend Developers lead by role — deadline pressure &amp; autonomy gaps are key drivers.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— The Therapy Access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provide support. Employees aren't using it. Why?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274320" y="1051560"/>
          <a:ext cx="43891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1097280"/>
            <a:ext cx="3931920" cy="886968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1097280"/>
            <a:ext cx="73152" cy="88696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0" y="11704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65.9%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120640" y="1609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therapy access at all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2212848"/>
            <a:ext cx="3931920" cy="886968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212848"/>
            <a:ext cx="73152" cy="8869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22860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55.4%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12064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WITH access still don't use it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7760" y="3328416"/>
            <a:ext cx="3931920" cy="886968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3328416"/>
            <a:ext cx="73152" cy="8869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34015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12064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receive &amp; use therapy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4480560"/>
            <a:ext cx="3931920" cy="475488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74920" y="451713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resources — it's reach. Culture &amp; stigma are the real barriers.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 — Burnout Is a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burnout directly drives attrition intention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274320" y="105156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097280"/>
            <a:ext cx="2834640" cy="105156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1097280"/>
            <a:ext cx="2834640" cy="54864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2070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0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03504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plan to quit this year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395728"/>
            <a:ext cx="2834640" cy="105156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0" y="2395728"/>
            <a:ext cx="28346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5054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6–9x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035040" y="29809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salary cost to replace one engineer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3694176"/>
            <a:ext cx="2834640" cy="105156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3694176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8039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$2.7B+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035040" y="42793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industry attrition cost (projected)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to Stakeholders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targeted interventions — data-backed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816352" cy="38404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816352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118872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18928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HR Leaders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21762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Therapy Utilization Gap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16736" y="2651760"/>
            <a:ext cx="7315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788920"/>
            <a:ext cx="25968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employees with access don't use it. Launch anonymous, manager-bypassed mental health check-ins. Normalize therapy like sick leave. Target Product Managers &amp; Backend Developers first.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27832" y="1051560"/>
            <a:ext cx="2816352" cy="38404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27832" y="1051560"/>
            <a:ext cx="281635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18872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27832" y="18928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C-Suite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19272" y="21762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the Remote Work Model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270248" y="2651760"/>
            <a:ext cx="7315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2788920"/>
            <a:ext cx="25968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employees show the highest burnout (5.48 avg). Implement structured async policies, camera-off norms &amp; reduce meeting load for distributed teams. Flexibility without boundaries backfires.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81344" y="1051560"/>
            <a:ext cx="2816352" cy="38404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81344" y="1051560"/>
            <a:ext cx="2816352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188720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81344" y="18928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Leadership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72784" y="21762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Burnout Early Warning System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223760" y="2651760"/>
            <a:ext cx="73152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91072" y="2788920"/>
            <a:ext cx="25968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employees scoring 7+ on stress + burnout + poor sleep as 'Critical Risk'. Proactive outreach beats reactive HR. Identify at-risk employees before they become attrition statistics.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68680"/>
          </a:xfrm>
          <a:prstGeom prst="rect">
            <a:avLst/>
          </a:prstGeom>
          <a:solidFill>
            <a:srgbClr val="152534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5039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doesn't just tell us there's a problem — it tells us exactly where to intervene first."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38528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901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47.9% of 100K tech workers show High or Severe burnout in 2026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9689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5603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workers are the most burned out — flexibility alone ≠ wellbeing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55264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32186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with therapy access don't use it — a culture problem, not a resource problem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913632"/>
            <a:ext cx="301752" cy="3017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38770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 employees plan to quit — burnout is the #1 attrition driver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2E40"/>
          </a:solidFill>
          <a:ln w="12700">
            <a:solidFill>
              <a:srgbClr val="1C2E4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mental_health_burnout_tech_2026.csv   |   Tools: MySQL Workbench · Power BI · DAX   |   UptoSkills Internship — Final Presentation   |   May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F3B15-34F0-1EA2-8B35-401BA425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ACD6B1-2F38-9AE8-F8F1-8DC594A847E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EEBF84-0634-ED17-301F-104D3BAE3E2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2BC7EC-CB9A-2451-9C56-AB87915C8C9B}"/>
              </a:ext>
            </a:extLst>
          </p:cNvPr>
          <p:cNvSpPr/>
          <p:nvPr/>
        </p:nvSpPr>
        <p:spPr>
          <a:xfrm>
            <a:off x="191589" y="233400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Thankyou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0986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952</Words>
  <Application>Microsoft Office PowerPoint</Application>
  <PresentationFormat>On-screen Show (16:9)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Bramhwanshi</cp:lastModifiedBy>
  <cp:revision>2</cp:revision>
  <dcterms:created xsi:type="dcterms:W3CDTF">2026-05-11T08:27:13Z</dcterms:created>
  <dcterms:modified xsi:type="dcterms:W3CDTF">2026-05-11T08:43:07Z</dcterms:modified>
</cp:coreProperties>
</file>